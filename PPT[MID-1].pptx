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8" r:id="rId1"/>
  </p:sldMasterIdLst>
  <p:sldIdLst>
    <p:sldId id="272" r:id="rId2"/>
    <p:sldId id="273" r:id="rId3"/>
    <p:sldId id="257" r:id="rId4"/>
    <p:sldId id="258" r:id="rId5"/>
    <p:sldId id="269" r:id="rId6"/>
    <p:sldId id="260" r:id="rId7"/>
    <p:sldId id="268" r:id="rId8"/>
  </p:sldIdLst>
  <p:sldSz cx="12192000" cy="6858000"/>
  <p:notesSz cx="12192000" cy="6858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24"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howGuides="1">
      <p:cViewPr>
        <p:scale>
          <a:sx n="75" d="100"/>
          <a:sy n="75" d="100"/>
        </p:scale>
        <p:origin x="893" y="-86"/>
      </p:cViewPr>
      <p:guideLst>
        <p:guide orient="horz" pos="2924"/>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889" y="2514601"/>
            <a:ext cx="880060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889" y="4777381"/>
            <a:ext cx="880060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IN"/>
          </a:p>
        </p:txBody>
      </p:sp>
      <p:sp>
        <p:nvSpPr>
          <p:cNvPr id="9" name="Freeform 8"/>
          <p:cNvSpPr/>
          <p:nvPr/>
        </p:nvSpPr>
        <p:spPr bwMode="auto">
          <a:xfrm>
            <a:off x="-42292" y="4321159"/>
            <a:ext cx="1860631"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564445" y="4529542"/>
            <a:ext cx="779971"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652882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3602" y="624110"/>
            <a:ext cx="87855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888" y="2133600"/>
            <a:ext cx="8789313"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668938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888" y="2074562"/>
            <a:ext cx="8789313"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3581400"/>
            <a:ext cx="8789313"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2245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889" y="2136707"/>
            <a:ext cx="4263375"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16410" y="2136707"/>
            <a:ext cx="426279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681637" y="787784"/>
            <a:ext cx="779971"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84172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020469" y="2226626"/>
            <a:ext cx="383279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887" y="2802889"/>
            <a:ext cx="4263376"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1540" y="2223398"/>
            <a:ext cx="383098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11620" y="2799661"/>
            <a:ext cx="4260907"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IN"/>
          </a:p>
        </p:txBody>
      </p:sp>
      <p:sp>
        <p:nvSpPr>
          <p:cNvPr id="11"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681637" y="787784"/>
            <a:ext cx="779971"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02345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93600" y="624110"/>
            <a:ext cx="87856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IN"/>
          </a:p>
        </p:txBody>
      </p:sp>
      <p:sp>
        <p:nvSpPr>
          <p:cNvPr id="8"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774068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9349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446088"/>
            <a:ext cx="3506112"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4659" y="446090"/>
            <a:ext cx="5054541"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887" y="1598613"/>
            <a:ext cx="3506112"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933470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4800600"/>
            <a:ext cx="8789313"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888" y="634965"/>
            <a:ext cx="8789313"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888" y="5367338"/>
            <a:ext cx="8789313"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75933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8" y="609600"/>
            <a:ext cx="8789313"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909544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21296" y="3505200"/>
            <a:ext cx="7538517"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IN"/>
          </a:p>
        </p:txBody>
      </p:sp>
      <p:sp>
        <p:nvSpPr>
          <p:cNvPr id="19" name="Freeform 11"/>
          <p:cNvSpPr/>
          <p:nvPr/>
        </p:nvSpPr>
        <p:spPr bwMode="auto">
          <a:xfrm flipV="1">
            <a:off x="78" y="3166528"/>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1"/>
            <a:ext cx="779971" cy="365125"/>
          </a:xfrm>
        </p:spPr>
        <p:txBody>
          <a:bodyPr/>
          <a:lstStyle/>
          <a:p>
            <a:fld id="{B6F15528-21DE-4FAA-801E-634DDDAF4B2B}" type="slidenum">
              <a:rPr lang="en-IN" smtClean="0"/>
              <a:t>‹#›</a:t>
            </a:fld>
            <a:endParaRPr lang="en-IN"/>
          </a:p>
        </p:txBody>
      </p:sp>
      <p:sp>
        <p:nvSpPr>
          <p:cNvPr id="14" name="TextBox 13"/>
          <p:cNvSpPr txBox="1"/>
          <p:nvPr/>
        </p:nvSpPr>
        <p:spPr>
          <a:xfrm>
            <a:off x="2411089" y="648005"/>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0892711" y="2905306"/>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45384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888" y="2438402"/>
            <a:ext cx="8789313"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888"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431399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887" y="4343400"/>
            <a:ext cx="891772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7" y="5181600"/>
            <a:ext cx="891772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IN"/>
          </a:p>
        </p:txBody>
      </p:sp>
      <p:sp>
        <p:nvSpPr>
          <p:cNvPr id="2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B6F15528-21DE-4FAA-801E-634DDDAF4B2B}" type="slidenum">
              <a:rPr lang="en-IN" smtClean="0"/>
              <a:t>‹#›</a:t>
            </a:fld>
            <a:endParaRPr lang="en-IN"/>
          </a:p>
        </p:txBody>
      </p:sp>
      <p:sp>
        <p:nvSpPr>
          <p:cNvPr id="11" name="TextBox 10"/>
          <p:cNvSpPr txBox="1"/>
          <p:nvPr/>
        </p:nvSpPr>
        <p:spPr>
          <a:xfrm>
            <a:off x="2411089" y="648005"/>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10892711" y="2905306"/>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54711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888" y="627407"/>
            <a:ext cx="8789312"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888" y="4343400"/>
            <a:ext cx="878931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8"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78" y="4910661"/>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9"/>
            <a:ext cx="779971" cy="365125"/>
          </a:xfrm>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345651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650651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71380" y="627407"/>
            <a:ext cx="2208176"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888" y="627407"/>
            <a:ext cx="6288464"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78"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4420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26416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7228" y="285"/>
            <a:ext cx="2603029"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24384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3600" y="624110"/>
            <a:ext cx="87856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888" y="2133600"/>
            <a:ext cx="8789313"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3200" y="6135090"/>
            <a:ext cx="102184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1/30/2026</a:t>
            </a:fld>
            <a:endParaRPr lang="en-US"/>
          </a:p>
        </p:txBody>
      </p:sp>
      <p:sp>
        <p:nvSpPr>
          <p:cNvPr id="5" name="Footer Placeholder 4"/>
          <p:cNvSpPr>
            <a:spLocks noGrp="1"/>
          </p:cNvSpPr>
          <p:nvPr>
            <p:ph type="ftr" sz="quarter" idx="3"/>
          </p:nvPr>
        </p:nvSpPr>
        <p:spPr>
          <a:xfrm>
            <a:off x="2589887" y="6135810"/>
            <a:ext cx="762198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681637" y="787784"/>
            <a:ext cx="779971" cy="365125"/>
          </a:xfrm>
          <a:prstGeom prst="rect">
            <a:avLst/>
          </a:prstGeom>
        </p:spPr>
        <p:txBody>
          <a:bodyPr vert="horz" lIns="91440" tIns="45720" rIns="91440" bIns="45720" rtlCol="0" anchor="ctr"/>
          <a:lstStyle>
            <a:lvl1pPr algn="r">
              <a:defRPr sz="2000">
                <a:solidFill>
                  <a:srgbClr val="FEFFFF"/>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421459263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5105400" y="2136073"/>
            <a:ext cx="1200150" cy="911927"/>
          </a:xfrm>
          <a:prstGeom prst="rect">
            <a:avLst/>
          </a:prstGeom>
        </p:spPr>
      </p:pic>
      <p:sp>
        <p:nvSpPr>
          <p:cNvPr id="6" name="Title 1"/>
          <p:cNvSpPr txBox="1"/>
          <p:nvPr/>
        </p:nvSpPr>
        <p:spPr>
          <a:xfrm>
            <a:off x="1066800" y="1242536"/>
            <a:ext cx="10287000" cy="738664"/>
          </a:xfrm>
          <a:prstGeom prst="rect">
            <a:avLst/>
          </a:prstGeom>
        </p:spPr>
        <p:txBody>
          <a:bodyPr wrap="square" lIns="0" tIns="0" rIns="0" bIns="0" anchor="ctr">
            <a:spAutoFit/>
          </a:bodyPr>
          <a:lstStyle>
            <a:lvl1pPr>
              <a:defRPr sz="3600" b="1" i="0">
                <a:solidFill>
                  <a:srgbClr val="ED466D"/>
                </a:solidFill>
                <a:latin typeface="Verdana" panose="020B0604030504040204"/>
                <a:ea typeface="+mj-ea"/>
                <a:cs typeface="Verdana" panose="020B0604030504040204"/>
              </a:defRPr>
            </a:lvl1pPr>
          </a:lstStyle>
          <a:p>
            <a:r>
              <a:rPr lang="en-IN" sz="2800" dirty="0"/>
              <a:t>TEEGALA KRISHNA REDDY ENGINEERING COLLEGE</a:t>
            </a:r>
          </a:p>
          <a:p>
            <a:r>
              <a:rPr lang="en-IN" sz="2000" dirty="0">
                <a:solidFill>
                  <a:schemeClr val="accent4">
                    <a:lumMod val="75000"/>
                  </a:schemeClr>
                </a:solidFill>
                <a:latin typeface="Times New Roman" panose="02020603050405020304" pitchFamily="18" charset="0"/>
                <a:cs typeface="Times New Roman" panose="02020603050405020304" pitchFamily="18" charset="0"/>
              </a:rPr>
              <a:t>         (Approved By </a:t>
            </a:r>
            <a:r>
              <a:rPr lang="en-IN" sz="2000" dirty="0">
                <a:solidFill>
                  <a:schemeClr val="tx1">
                    <a:lumMod val="75000"/>
                    <a:lumOff val="25000"/>
                  </a:schemeClr>
                </a:solidFill>
                <a:latin typeface="Times New Roman" panose="02020603050405020304" pitchFamily="18" charset="0"/>
                <a:cs typeface="Times New Roman" panose="02020603050405020304" pitchFamily="18" charset="0"/>
              </a:rPr>
              <a:t>AICTE</a:t>
            </a:r>
            <a:r>
              <a:rPr lang="en-IN" sz="2000" dirty="0">
                <a:solidFill>
                  <a:schemeClr val="accent4">
                    <a:lumMod val="75000"/>
                  </a:schemeClr>
                </a:solidFill>
                <a:latin typeface="Times New Roman" panose="02020603050405020304" pitchFamily="18" charset="0"/>
                <a:cs typeface="Times New Roman" panose="02020603050405020304" pitchFamily="18" charset="0"/>
              </a:rPr>
              <a:t> , Affiliated To JNTUH, Accredited By NBA And NAAC)</a:t>
            </a:r>
            <a:endParaRPr lang="en-IN" sz="2000" dirty="0"/>
          </a:p>
        </p:txBody>
      </p:sp>
      <p:sp>
        <p:nvSpPr>
          <p:cNvPr id="7" name="Subtitle 2"/>
          <p:cNvSpPr txBox="1"/>
          <p:nvPr/>
        </p:nvSpPr>
        <p:spPr>
          <a:xfrm>
            <a:off x="609600" y="3068891"/>
            <a:ext cx="10398442" cy="66490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IN" sz="2400" dirty="0"/>
              <a:t>	          DEPARTMENT OF COMPUTER SCIENCE &amp; ENGINEERING</a:t>
            </a:r>
          </a:p>
        </p:txBody>
      </p:sp>
      <p:sp>
        <p:nvSpPr>
          <p:cNvPr id="8" name="TextBox 7"/>
          <p:cNvSpPr txBox="1"/>
          <p:nvPr/>
        </p:nvSpPr>
        <p:spPr>
          <a:xfrm>
            <a:off x="1066800" y="4121129"/>
            <a:ext cx="3751421" cy="1289071"/>
          </a:xfrm>
          <a:prstGeom prst="rect">
            <a:avLst/>
          </a:prstGeom>
          <a:noFill/>
        </p:spPr>
        <p:txBody>
          <a:bodyPr wrap="square" rtlCol="0">
            <a:spAutoFit/>
          </a:bodyPr>
          <a:lstStyle/>
          <a:p>
            <a:pPr algn="just">
              <a:lnSpc>
                <a:spcPct val="150000"/>
              </a:lnSpc>
            </a:pPr>
            <a:r>
              <a:rPr lang="en-IN" b="1" u="sng" dirty="0">
                <a:latin typeface="Book Antiqua" panose="02040602050305030304" pitchFamily="18" charset="0"/>
              </a:rPr>
              <a:t>HEAD OF THE DEPARTMENT:</a:t>
            </a:r>
          </a:p>
          <a:p>
            <a:pPr algn="just">
              <a:lnSpc>
                <a:spcPct val="150000"/>
              </a:lnSpc>
            </a:pPr>
            <a:r>
              <a:rPr lang="en-IN" dirty="0">
                <a:latin typeface="Book Antiqua" panose="02040602050305030304" pitchFamily="18" charset="0"/>
              </a:rPr>
              <a:t>Dr. CH. V. PHANI KRISHNA</a:t>
            </a:r>
          </a:p>
          <a:p>
            <a:pPr algn="just">
              <a:lnSpc>
                <a:spcPct val="150000"/>
              </a:lnSpc>
            </a:pPr>
            <a:r>
              <a:rPr lang="en-IN" dirty="0">
                <a:latin typeface="Times New Roman" panose="02020603050405020304" pitchFamily="18" charset="0"/>
                <a:cs typeface="Times New Roman" panose="02020603050405020304" pitchFamily="18" charset="0"/>
              </a:rPr>
              <a:t>PROFESSOR</a:t>
            </a:r>
          </a:p>
        </p:txBody>
      </p:sp>
      <p:sp>
        <p:nvSpPr>
          <p:cNvPr id="9" name="TextBox 8"/>
          <p:cNvSpPr txBox="1"/>
          <p:nvPr/>
        </p:nvSpPr>
        <p:spPr>
          <a:xfrm>
            <a:off x="8001000" y="4121129"/>
            <a:ext cx="3416610" cy="1289071"/>
          </a:xfrm>
          <a:prstGeom prst="rect">
            <a:avLst/>
          </a:prstGeom>
          <a:noFill/>
        </p:spPr>
        <p:txBody>
          <a:bodyPr wrap="square" rtlCol="0">
            <a:spAutoFit/>
          </a:bodyPr>
          <a:lstStyle/>
          <a:p>
            <a:pPr algn="just">
              <a:lnSpc>
                <a:spcPct val="150000"/>
              </a:lnSpc>
            </a:pPr>
            <a:r>
              <a:rPr lang="en-IN" b="1" u="sng" dirty="0">
                <a:latin typeface="Book Antiqua" panose="02040602050305030304" pitchFamily="18" charset="0"/>
              </a:rPr>
              <a:t>PROJECT CO-ORDINATOR:</a:t>
            </a:r>
          </a:p>
          <a:p>
            <a:pPr algn="just">
              <a:lnSpc>
                <a:spcPct val="150000"/>
              </a:lnSpc>
            </a:pPr>
            <a:r>
              <a:rPr lang="en-IN" dirty="0">
                <a:latin typeface="Book Antiqua" panose="02040602050305030304" pitchFamily="18" charset="0"/>
              </a:rPr>
              <a:t>A. MOUNIKA</a:t>
            </a:r>
          </a:p>
          <a:p>
            <a:pPr algn="just">
              <a:lnSpc>
                <a:spcPct val="150000"/>
              </a:lnSpc>
            </a:pPr>
            <a:r>
              <a:rPr lang="en-IN" dirty="0">
                <a:latin typeface="Times New Roman" panose="02020603050405020304" pitchFamily="18" charset="0"/>
                <a:cs typeface="Times New Roman" panose="02020603050405020304" pitchFamily="18" charset="0"/>
              </a:rPr>
              <a:t>ASSISTANT PROFESSOR</a:t>
            </a:r>
          </a:p>
        </p:txBody>
      </p:sp>
      <p:cxnSp>
        <p:nvCxnSpPr>
          <p:cNvPr id="2" name="Straight Connector 1">
            <a:extLst>
              <a:ext uri="{FF2B5EF4-FFF2-40B4-BE49-F238E27FC236}">
                <a16:creationId xmlns:a16="http://schemas.microsoft.com/office/drawing/2014/main" id="{CA1DE4FA-3864-3F50-4400-41A6FC79BC8A}"/>
              </a:ext>
            </a:extLst>
          </p:cNvPr>
          <p:cNvCxnSpPr/>
          <p:nvPr/>
        </p:nvCxnSpPr>
        <p:spPr>
          <a:xfrm>
            <a:off x="1905000" y="3581400"/>
            <a:ext cx="814014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990600" y="1676400"/>
            <a:ext cx="10287000" cy="1005205"/>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altLang="en-US" sz="3200" b="1" dirty="0">
                <a:latin typeface="Verdana" panose="020B0604030504040204" pitchFamily="34" charset="0"/>
                <a:ea typeface="Verdana" panose="020B0604030504040204" pitchFamily="34" charset="0"/>
              </a:rPr>
              <a:t>AI-Powered Automated Attendance System                      </a:t>
            </a:r>
          </a:p>
        </p:txBody>
      </p:sp>
      <p:sp>
        <p:nvSpPr>
          <p:cNvPr id="7" name="TextBox 6"/>
          <p:cNvSpPr txBox="1"/>
          <p:nvPr/>
        </p:nvSpPr>
        <p:spPr>
          <a:xfrm>
            <a:off x="1066800" y="3581400"/>
            <a:ext cx="3200400" cy="1337945"/>
          </a:xfrm>
          <a:prstGeom prst="rect">
            <a:avLst/>
          </a:prstGeom>
          <a:noFill/>
        </p:spPr>
        <p:txBody>
          <a:bodyPr wrap="square" rtlCol="0">
            <a:spAutoFit/>
          </a:bodyPr>
          <a:lstStyle/>
          <a:p>
            <a:pPr algn="just">
              <a:lnSpc>
                <a:spcPct val="150000"/>
              </a:lnSpc>
            </a:pPr>
            <a:r>
              <a:rPr lang="en-IN" b="1" u="sng" dirty="0">
                <a:latin typeface="Book Antiqua" panose="02040602050305030304" pitchFamily="18" charset="0"/>
              </a:rPr>
              <a:t>SUPERVISOR:</a:t>
            </a:r>
          </a:p>
          <a:p>
            <a:pPr algn="just">
              <a:lnSpc>
                <a:spcPct val="150000"/>
              </a:lnSpc>
            </a:pPr>
            <a:r>
              <a:rPr lang="en-IN" dirty="0">
                <a:latin typeface="Book Antiqua" panose="02040602050305030304" pitchFamily="18" charset="0"/>
              </a:rPr>
              <a:t>MRS.</a:t>
            </a:r>
            <a:r>
              <a:rPr lang="en-US" altLang="en-IN" dirty="0">
                <a:latin typeface="Book Antiqua" panose="02040602050305030304" pitchFamily="18" charset="0"/>
              </a:rPr>
              <a:t>P.SWETHA</a:t>
            </a:r>
            <a:endParaRPr lang="en-IN" dirty="0">
              <a:latin typeface="Book Antiqua" panose="0204060205030503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ASSISTANT PROFESSOR</a:t>
            </a:r>
          </a:p>
        </p:txBody>
      </p:sp>
      <p:sp>
        <p:nvSpPr>
          <p:cNvPr id="8" name="TextBox 7"/>
          <p:cNvSpPr txBox="1"/>
          <p:nvPr/>
        </p:nvSpPr>
        <p:spPr>
          <a:xfrm>
            <a:off x="7372350" y="3581400"/>
            <a:ext cx="4514850" cy="1754326"/>
          </a:xfrm>
          <a:prstGeom prst="rect">
            <a:avLst/>
          </a:prstGeom>
          <a:noFill/>
        </p:spPr>
        <p:txBody>
          <a:bodyPr wrap="square" rtlCol="0">
            <a:spAutoFit/>
          </a:bodyPr>
          <a:lstStyle/>
          <a:p>
            <a:pPr>
              <a:lnSpc>
                <a:spcPct val="150000"/>
              </a:lnSpc>
            </a:pPr>
            <a:r>
              <a:rPr lang="en-IN" b="1" u="sng" dirty="0">
                <a:latin typeface="Book Antiqua" panose="02040602050305030304" pitchFamily="18" charset="0"/>
              </a:rPr>
              <a:t>TEAM MEMBERS:</a:t>
            </a:r>
          </a:p>
          <a:p>
            <a:pPr>
              <a:lnSpc>
                <a:spcPct val="150000"/>
              </a:lnSpc>
            </a:pPr>
            <a:r>
              <a:rPr lang="en-IN" dirty="0">
                <a:latin typeface="Book Antiqua" panose="02040602050305030304" pitchFamily="18" charset="0"/>
              </a:rPr>
              <a:t>M.NITHISH KUMAR-23R91A05L6</a:t>
            </a:r>
          </a:p>
          <a:p>
            <a:r>
              <a:rPr lang="en-US" altLang="en-IN" dirty="0">
                <a:latin typeface="Book Antiqua" panose="02040602050305030304" pitchFamily="18" charset="0"/>
              </a:rPr>
              <a:t>P.RAHUL-23R91A05P1</a:t>
            </a:r>
            <a:endParaRPr lang="en-IN" dirty="0">
              <a:latin typeface="Book Antiqua" panose="02040602050305030304" pitchFamily="18" charset="0"/>
            </a:endParaRPr>
          </a:p>
          <a:p>
            <a:r>
              <a:rPr lang="en-IN" dirty="0">
                <a:latin typeface="Book Antiqua" panose="02040602050305030304" pitchFamily="18" charset="0"/>
              </a:rPr>
              <a:t>P.HARSHITHA-23R91A05Q2</a:t>
            </a:r>
          </a:p>
          <a:p>
            <a:r>
              <a:rPr lang="en-US" altLang="en-IN" dirty="0">
                <a:latin typeface="Book Antiqua" panose="02040602050305030304" pitchFamily="18" charset="0"/>
              </a:rPr>
              <a:t>R.CHARAN KUMAR-23R91A05R2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p:nvPr/>
        </p:nvSpPr>
        <p:spPr>
          <a:xfrm>
            <a:off x="838200" y="1950719"/>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7" name="object 3"/>
          <p:cNvSpPr txBox="1">
            <a:spLocks noGrp="1"/>
          </p:cNvSpPr>
          <p:nvPr>
            <p:ph type="title"/>
          </p:nvPr>
        </p:nvSpPr>
        <p:spPr>
          <a:xfrm>
            <a:off x="832205" y="1290954"/>
            <a:ext cx="10527588" cy="628377"/>
          </a:xfrm>
          <a:prstGeom prst="rect">
            <a:avLst/>
          </a:prstGeom>
        </p:spPr>
        <p:txBody>
          <a:bodyPr vert="horz" wrap="square" lIns="0" tIns="12700" rIns="0" bIns="0" rtlCol="0">
            <a:spAutoFit/>
          </a:bodyPr>
          <a:lstStyle/>
          <a:p>
            <a:pPr marL="12700">
              <a:lnSpc>
                <a:spcPct val="100000"/>
              </a:lnSpc>
              <a:spcBef>
                <a:spcPts val="100"/>
              </a:spcBef>
            </a:pPr>
            <a:r>
              <a:rPr sz="4000" spc="-50" dirty="0">
                <a:solidFill>
                  <a:srgbClr val="171717"/>
                </a:solidFill>
                <a:latin typeface="Times New Roman" panose="02020603050405020304" pitchFamily="18" charset="0"/>
                <a:cs typeface="Times New Roman" panose="02020603050405020304" pitchFamily="18" charset="0"/>
              </a:rPr>
              <a:t>CONTENTS:</a:t>
            </a:r>
            <a:endParaRPr sz="4000" dirty="0">
              <a:latin typeface="Times New Roman" panose="02020603050405020304" pitchFamily="18" charset="0"/>
              <a:cs typeface="Times New Roman" panose="02020603050405020304" pitchFamily="18" charset="0"/>
            </a:endParaRPr>
          </a:p>
        </p:txBody>
      </p:sp>
      <p:sp>
        <p:nvSpPr>
          <p:cNvPr id="8" name="object 4"/>
          <p:cNvSpPr txBox="1"/>
          <p:nvPr/>
        </p:nvSpPr>
        <p:spPr>
          <a:xfrm>
            <a:off x="1145539" y="2192994"/>
            <a:ext cx="3121661" cy="1540806"/>
          </a:xfrm>
          <a:prstGeom prst="rect">
            <a:avLst/>
          </a:prstGeom>
        </p:spPr>
        <p:txBody>
          <a:bodyPr vert="horz" wrap="square" lIns="0" tIns="12065" rIns="0" bIns="0" rtlCol="0">
            <a:spAutoFit/>
          </a:bodyPr>
          <a:lstStyle/>
          <a:p>
            <a:pPr marL="240665" indent="-227965">
              <a:lnSpc>
                <a:spcPct val="100000"/>
              </a:lnSpc>
              <a:spcBef>
                <a:spcPts val="95"/>
              </a:spcBef>
              <a:buFont typeface="Wingdings" panose="05000000000000000000"/>
              <a:buChar char=""/>
              <a:tabLst>
                <a:tab pos="240665" algn="l"/>
              </a:tabLst>
            </a:pPr>
            <a:r>
              <a:rPr sz="1600" spc="40" dirty="0">
                <a:latin typeface="Times New Roman" panose="02020603050405020304" pitchFamily="18" charset="0"/>
                <a:cs typeface="Times New Roman" panose="02020603050405020304" pitchFamily="18" charset="0"/>
              </a:rPr>
              <a:t>ABSTRACT</a:t>
            </a:r>
            <a:endParaRPr lang="en-IN" sz="1600" spc="40" dirty="0">
              <a:latin typeface="Times New Roman" panose="02020603050405020304" pitchFamily="18" charset="0"/>
              <a:cs typeface="Times New Roman" panose="02020603050405020304" pitchFamily="18" charset="0"/>
            </a:endParaRPr>
          </a:p>
          <a:p>
            <a:pPr marL="240665" indent="-227965">
              <a:lnSpc>
                <a:spcPct val="100000"/>
              </a:lnSpc>
              <a:spcBef>
                <a:spcPts val="95"/>
              </a:spcBef>
              <a:buFont typeface="Wingdings" panose="05000000000000000000"/>
              <a:buChar char=""/>
              <a:tabLst>
                <a:tab pos="240665" algn="l"/>
              </a:tabLst>
            </a:pPr>
            <a:endParaRPr lang="en-IN" sz="1600" spc="40" dirty="0">
              <a:latin typeface="Times New Roman" panose="02020603050405020304" pitchFamily="18" charset="0"/>
              <a:cs typeface="Times New Roman" panose="02020603050405020304" pitchFamily="18" charset="0"/>
            </a:endParaRPr>
          </a:p>
          <a:p>
            <a:pPr marL="240665" indent="-227965">
              <a:lnSpc>
                <a:spcPct val="100000"/>
              </a:lnSpc>
              <a:spcBef>
                <a:spcPts val="95"/>
              </a:spcBef>
              <a:buFont typeface="Wingdings" panose="05000000000000000000"/>
              <a:buChar char=""/>
              <a:tabLst>
                <a:tab pos="240665" algn="l"/>
              </a:tabLst>
            </a:pPr>
            <a:r>
              <a:rPr lang="en-IN" sz="1600" spc="40" dirty="0">
                <a:latin typeface="Times New Roman" panose="02020603050405020304" pitchFamily="18" charset="0"/>
                <a:cs typeface="Times New Roman" panose="02020603050405020304" pitchFamily="18" charset="0"/>
              </a:rPr>
              <a:t>EXISTING SYSTEM</a:t>
            </a:r>
          </a:p>
          <a:p>
            <a:pPr marL="240665" indent="-227965">
              <a:lnSpc>
                <a:spcPct val="100000"/>
              </a:lnSpc>
              <a:spcBef>
                <a:spcPts val="95"/>
              </a:spcBef>
              <a:buFont typeface="Wingdings" panose="05000000000000000000"/>
              <a:buChar char=""/>
              <a:tabLst>
                <a:tab pos="240665" algn="l"/>
              </a:tabLst>
            </a:pPr>
            <a:endParaRPr sz="1600" dirty="0">
              <a:latin typeface="Times New Roman" panose="02020603050405020304" pitchFamily="18" charset="0"/>
              <a:cs typeface="Times New Roman" panose="02020603050405020304" pitchFamily="18" charset="0"/>
            </a:endParaRPr>
          </a:p>
          <a:p>
            <a:pPr marL="240665" indent="-227965">
              <a:lnSpc>
                <a:spcPct val="100000"/>
              </a:lnSpc>
              <a:buFont typeface="Wingdings" panose="05000000000000000000"/>
              <a:buChar char=""/>
              <a:tabLst>
                <a:tab pos="240665" algn="l"/>
              </a:tabLst>
            </a:pPr>
            <a:r>
              <a:rPr lang="en-IN" sz="1600" dirty="0">
                <a:latin typeface="Times New Roman" panose="02020603050405020304" pitchFamily="18" charset="0"/>
                <a:cs typeface="Times New Roman" panose="02020603050405020304" pitchFamily="18" charset="0"/>
              </a:rPr>
              <a:t>PROPOSED SYSTEM</a:t>
            </a:r>
            <a:endParaRPr sz="1600" dirty="0">
              <a:latin typeface="Times New Roman" panose="02020603050405020304" pitchFamily="18" charset="0"/>
              <a:cs typeface="Times New Roman" panose="02020603050405020304" pitchFamily="18" charset="0"/>
            </a:endParaRPr>
          </a:p>
          <a:p>
            <a:pPr>
              <a:lnSpc>
                <a:spcPct val="100000"/>
              </a:lnSpc>
              <a:spcBef>
                <a:spcPts val="100"/>
              </a:spcBef>
              <a:buFont typeface="Wingdings" panose="05000000000000000000"/>
              <a:buChar char=""/>
            </a:pPr>
            <a:endParaRPr sz="1600" dirty="0">
              <a:latin typeface="Times New Roman" panose="02020603050405020304" pitchFamily="18" charset="0"/>
              <a:cs typeface="Times New Roman" panose="02020603050405020304" pitchFamily="18" charset="0"/>
            </a:endParaRPr>
          </a:p>
        </p:txBody>
      </p:sp>
      <p:pic>
        <p:nvPicPr>
          <p:cNvPr id="2" name="Picture 1"/>
          <p:cNvPicPr/>
          <p:nvPr/>
        </p:nvPicPr>
        <p:blipFill>
          <a:blip r:embed="rId2"/>
          <a:srcRect b="9740"/>
          <a:stretch>
            <a:fillRect/>
          </a:stretch>
        </p:blipFill>
        <p:spPr>
          <a:xfrm>
            <a:off x="6172200" y="2133600"/>
            <a:ext cx="4724400" cy="30533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68580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p:cNvSpPr txBox="1">
            <a:spLocks noGrp="1"/>
          </p:cNvSpPr>
          <p:nvPr>
            <p:ph type="title"/>
          </p:nvPr>
        </p:nvSpPr>
        <p:spPr>
          <a:xfrm>
            <a:off x="673812" y="946944"/>
            <a:ext cx="10527588" cy="653256"/>
          </a:xfrm>
          <a:prstGeom prst="rect">
            <a:avLst/>
          </a:prstGeom>
        </p:spPr>
        <p:txBody>
          <a:bodyPr vert="horz" wrap="square" lIns="0" tIns="281178" rIns="0" bIns="0" rtlCol="0">
            <a:spAutoFit/>
          </a:bodyPr>
          <a:lstStyle/>
          <a:p>
            <a:pPr marL="97155">
              <a:lnSpc>
                <a:spcPct val="100000"/>
              </a:lnSpc>
              <a:spcBef>
                <a:spcPts val="100"/>
              </a:spcBef>
            </a:pPr>
            <a:r>
              <a:rPr lang="en-IN" sz="2400" spc="-10" dirty="0">
                <a:latin typeface="Times New Roman" panose="02020603050405020304" pitchFamily="18" charset="0"/>
                <a:cs typeface="Times New Roman" panose="02020603050405020304" pitchFamily="18" charset="0"/>
              </a:rPr>
              <a:t>ABSTRACT</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9" name="object 4"/>
          <p:cNvSpPr txBox="1"/>
          <p:nvPr/>
        </p:nvSpPr>
        <p:spPr>
          <a:xfrm>
            <a:off x="756005" y="1600200"/>
            <a:ext cx="10597795" cy="4030591"/>
          </a:xfrm>
          <a:prstGeom prst="rect">
            <a:avLst/>
          </a:prstGeom>
        </p:spPr>
        <p:txBody>
          <a:bodyPr vert="horz" wrap="square" lIns="0" tIns="12065" rIns="0" bIns="0" rtlCol="0">
            <a:spAutoFit/>
          </a:bodyPr>
          <a:lstStyle/>
          <a:p>
            <a:pPr marL="170815" marR="165100" indent="1905" algn="just">
              <a:lnSpc>
                <a:spcPct val="150000"/>
              </a:lnSpc>
              <a:spcBef>
                <a:spcPts val="95"/>
              </a:spcBef>
            </a:pPr>
            <a:r>
              <a:rPr lang="en-US" altLang="en-US" sz="1600" dirty="0">
                <a:latin typeface="Times New Roman" panose="02020603050405020304" pitchFamily="18" charset="0"/>
                <a:cs typeface="Times New Roman" panose="02020603050405020304" pitchFamily="18" charset="0"/>
              </a:rPr>
              <a:t>In the evolving landscape of digital education, efficient attendance management remains a critical challenge. Traditional attendance systems, often relying on manual roll calls or basic electronic methods, suffer from inefficiencies, inaccuracies, and vulnerabilities to misuse such as proxy attendance. As educational institutions grow larger and more complex, there is an increasing need for automated, reliable, and secure attendance solutions. An effective system should minimize manual intervention while ensuring accuracy, real-time monitoring, and ease of data management. The proposed AI-Powered Automated Attendance System leverages CCTV cameras combined with advanced computer vision and deep learning techniques to automatically detect and recognize student faces in real time. This approach eliminates manual errors, reduces administrative workload, and prevents fraudulent attendance practices. By integrating intelligent face recognition algorithms with a centralized database, the system offers seamless attendance tracking, efficient data storage, and easy accessibility for faculty and administrators. As educational environments continue to modernize, this solution is well-equipped to meet growing demands, providing a scalable, secure, and forward-thinking attendance management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609600" y="1230868"/>
            <a:ext cx="10527588" cy="369332"/>
          </a:xfrm>
        </p:spPr>
        <p:txBody>
          <a:bodyPr>
            <a:normAutofit fontScale="90000"/>
          </a:bodyPr>
          <a:lstStyle/>
          <a:p>
            <a:r>
              <a:rPr lang="en-IN" sz="2400" dirty="0">
                <a:latin typeface="Times New Roman" panose="02020603050405020304" pitchFamily="18" charset="0"/>
                <a:cs typeface="Times New Roman" panose="02020603050405020304" pitchFamily="18" charset="0"/>
              </a:rPr>
              <a:t>EXISTING SYSTEM:</a:t>
            </a:r>
          </a:p>
        </p:txBody>
      </p:sp>
      <p:sp>
        <p:nvSpPr>
          <p:cNvPr id="10" name="Text Placeholder 2"/>
          <p:cNvSpPr>
            <a:spLocks noGrp="1"/>
          </p:cNvSpPr>
          <p:nvPr>
            <p:ph idx="1"/>
          </p:nvPr>
        </p:nvSpPr>
        <p:spPr>
          <a:xfrm>
            <a:off x="769374" y="1600200"/>
            <a:ext cx="10660626" cy="4876800"/>
          </a:xfrm>
        </p:spPr>
        <p:txBody>
          <a:bodyPr>
            <a:noAutofit/>
          </a:bodyPr>
          <a:lstStyle/>
          <a:p>
            <a:pPr marL="0" indent="0" algn="just">
              <a:lnSpc>
                <a:spcPct val="150000"/>
              </a:lnSpc>
              <a:buNone/>
            </a:pPr>
            <a:r>
              <a:rPr lang="en-US" altLang="en-US" sz="1600" dirty="0">
                <a:latin typeface="Times New Roman" panose="02020603050405020304" pitchFamily="18" charset="0"/>
                <a:cs typeface="Times New Roman" panose="02020603050405020304" pitchFamily="18" charset="0"/>
              </a:rPr>
              <a:t>The existing attendance system mainly relies on manual roll calls, paper-based registers, or basic electronic systems such as RFID cards and biometric scanners. These systems require physical interaction, causing delays and crowding during attendance marking. Proxy attendance remains a common issue due to card sharing or fingerprint manipulation. Additionally, these systems lack real-time monitoring and automated verification, making it difficult to detect fraudulent attendance. Managing attendance records manually or with limited automation is cumbersome, especially for large classrooms, resulting in inefficiency and errors </a:t>
            </a:r>
          </a:p>
          <a:p>
            <a:pPr marL="0" indent="0" algn="just">
              <a:lnSpc>
                <a:spcPct val="150000"/>
              </a:lnSpc>
              <a:spcBef>
                <a:spcPts val="100"/>
              </a:spcBef>
              <a:buNone/>
            </a:pPr>
            <a:r>
              <a:rPr lang="en-US" altLang="en-US" b="1" dirty="0">
                <a:latin typeface="Times New Roman" panose="02020603050405020304" pitchFamily="18" charset="0"/>
                <a:cs typeface="Times New Roman" panose="02020603050405020304" pitchFamily="18" charset="0"/>
              </a:rPr>
              <a:t>Drawbacks:</a:t>
            </a:r>
          </a:p>
          <a:p>
            <a:pPr marL="263525" indent="-263525" algn="just">
              <a:lnSpc>
                <a:spcPct val="150000"/>
              </a:lnSpc>
              <a:spcBef>
                <a:spcPts val="100"/>
              </a:spcBef>
              <a:buFont typeface="Wingdings" panose="05000000000000000000" pitchFamily="2" charset="2"/>
              <a:buChar char="v"/>
              <a:tabLst>
                <a:tab pos="182563" algn="l"/>
              </a:tabLst>
            </a:pPr>
            <a:r>
              <a:rPr lang="en-US" altLang="en-US" sz="1600" b="1" dirty="0">
                <a:latin typeface="Times New Roman" panose="02020603050405020304" pitchFamily="18" charset="0"/>
                <a:cs typeface="Times New Roman" panose="02020603050405020304" pitchFamily="18" charset="0"/>
              </a:rPr>
              <a:t>Manual Process: </a:t>
            </a:r>
            <a:r>
              <a:rPr lang="en-US" altLang="en-US" sz="1600" dirty="0">
                <a:latin typeface="Times New Roman" panose="02020603050405020304" pitchFamily="18" charset="0"/>
                <a:cs typeface="Times New Roman" panose="02020603050405020304" pitchFamily="18" charset="0"/>
              </a:rPr>
              <a:t>Requires teachers to call out names or students to sign registers, consuming valuable class time.</a:t>
            </a:r>
          </a:p>
          <a:p>
            <a:pPr marL="263525" indent="-263525" algn="just">
              <a:lnSpc>
                <a:spcPct val="150000"/>
              </a:lnSpc>
              <a:spcBef>
                <a:spcPts val="100"/>
              </a:spcBef>
              <a:buFont typeface="Wingdings" panose="05000000000000000000" pitchFamily="2" charset="2"/>
              <a:buChar char="v"/>
              <a:tabLst>
                <a:tab pos="182563" algn="l"/>
              </a:tabLst>
            </a:pPr>
            <a:r>
              <a:rPr lang="en-US" altLang="en-US" sz="1600" b="1" dirty="0">
                <a:latin typeface="Times New Roman" panose="02020603050405020304" pitchFamily="18" charset="0"/>
                <a:cs typeface="Times New Roman" panose="02020603050405020304" pitchFamily="18" charset="0"/>
              </a:rPr>
              <a:t>Physical Interaction: </a:t>
            </a:r>
            <a:r>
              <a:rPr lang="en-US" altLang="en-US" sz="1600" dirty="0">
                <a:latin typeface="Times New Roman" panose="02020603050405020304" pitchFamily="18" charset="0"/>
                <a:cs typeface="Times New Roman" panose="02020603050405020304" pitchFamily="18" charset="0"/>
              </a:rPr>
              <a:t>Students must use cards or biometric devices, causing delays and queues.</a:t>
            </a:r>
          </a:p>
          <a:p>
            <a:pPr marL="263525" indent="-263525" algn="just">
              <a:lnSpc>
                <a:spcPct val="150000"/>
              </a:lnSpc>
              <a:spcBef>
                <a:spcPts val="100"/>
              </a:spcBef>
              <a:buFont typeface="Wingdings" panose="05000000000000000000" pitchFamily="2" charset="2"/>
              <a:buChar char="v"/>
              <a:tabLst>
                <a:tab pos="182563" algn="l"/>
              </a:tabLst>
            </a:pPr>
            <a:r>
              <a:rPr lang="en-US" altLang="en-US" sz="1600" b="1" dirty="0">
                <a:latin typeface="Times New Roman" panose="02020603050405020304" pitchFamily="18" charset="0"/>
                <a:cs typeface="Times New Roman" panose="02020603050405020304" pitchFamily="18" charset="0"/>
              </a:rPr>
              <a:t>Proxy Attendance: </a:t>
            </a:r>
            <a:r>
              <a:rPr lang="en-US" altLang="en-US" sz="1600" dirty="0">
                <a:latin typeface="Times New Roman" panose="02020603050405020304" pitchFamily="18" charset="0"/>
                <a:cs typeface="Times New Roman" panose="02020603050405020304" pitchFamily="18" charset="0"/>
              </a:rPr>
              <a:t>Card sharing and fingerprint spoofing allow dishonest attendance marking.</a:t>
            </a:r>
          </a:p>
          <a:p>
            <a:pPr marL="263525" indent="-263525" algn="just">
              <a:lnSpc>
                <a:spcPct val="150000"/>
              </a:lnSpc>
              <a:spcBef>
                <a:spcPts val="100"/>
              </a:spcBef>
              <a:buFont typeface="Wingdings" panose="05000000000000000000" pitchFamily="2" charset="2"/>
              <a:buChar char="v"/>
              <a:tabLst>
                <a:tab pos="182563" algn="l"/>
              </a:tabLst>
            </a:pPr>
            <a:r>
              <a:rPr lang="en-US" altLang="en-US" sz="1600" b="1" dirty="0">
                <a:latin typeface="Times New Roman" panose="02020603050405020304" pitchFamily="18" charset="0"/>
                <a:cs typeface="Times New Roman" panose="02020603050405020304" pitchFamily="18" charset="0"/>
              </a:rPr>
              <a:t>No Real-Time Monitoring: </a:t>
            </a:r>
            <a:r>
              <a:rPr lang="en-US" altLang="en-US" sz="1600" dirty="0">
                <a:latin typeface="Times New Roman" panose="02020603050405020304" pitchFamily="18" charset="0"/>
                <a:cs typeface="Times New Roman" panose="02020603050405020304" pitchFamily="18" charset="0"/>
              </a:rPr>
              <a:t>Lack of continuous verification and supervision during attendance.</a:t>
            </a:r>
          </a:p>
          <a:p>
            <a:pPr marL="263525" indent="-263525" algn="just">
              <a:lnSpc>
                <a:spcPct val="150000"/>
              </a:lnSpc>
              <a:spcBef>
                <a:spcPts val="100"/>
              </a:spcBef>
              <a:buFont typeface="Wingdings" panose="05000000000000000000" pitchFamily="2" charset="2"/>
              <a:buChar char="v"/>
              <a:tabLst>
                <a:tab pos="182563" algn="l"/>
              </a:tabLst>
            </a:pPr>
            <a:r>
              <a:rPr lang="en-US" altLang="en-US" sz="1600" b="1" dirty="0">
                <a:latin typeface="Times New Roman" panose="02020603050405020304" pitchFamily="18" charset="0"/>
                <a:cs typeface="Times New Roman" panose="02020603050405020304" pitchFamily="18" charset="0"/>
              </a:rPr>
              <a:t>Inefficient Record Management: </a:t>
            </a:r>
            <a:r>
              <a:rPr lang="en-US" altLang="en-US" sz="1600" dirty="0">
                <a:latin typeface="Times New Roman" panose="02020603050405020304" pitchFamily="18" charset="0"/>
                <a:cs typeface="Times New Roman" panose="02020603050405020304" pitchFamily="18" charset="0"/>
              </a:rPr>
              <a:t>Manual or semi-automated record keeping is error-prone and hard to analyze.</a:t>
            </a:r>
          </a:p>
          <a:p>
            <a:pPr marL="263525" indent="-263525" algn="just">
              <a:lnSpc>
                <a:spcPct val="150000"/>
              </a:lnSpc>
              <a:spcBef>
                <a:spcPts val="100"/>
              </a:spcBef>
              <a:buFont typeface="Wingdings" panose="05000000000000000000" pitchFamily="2" charset="2"/>
              <a:buChar char="v"/>
              <a:tabLst>
                <a:tab pos="182563" algn="l"/>
              </a:tabLst>
            </a:pPr>
            <a:r>
              <a:rPr lang="en-US" altLang="en-US" sz="1600" b="1" dirty="0">
                <a:latin typeface="Times New Roman" panose="02020603050405020304" pitchFamily="18" charset="0"/>
                <a:cs typeface="Times New Roman" panose="02020603050405020304" pitchFamily="18" charset="0"/>
              </a:rPr>
              <a:t>Low Scalability: </a:t>
            </a:r>
            <a:r>
              <a:rPr lang="en-US" altLang="en-US" sz="1600" dirty="0">
                <a:latin typeface="Times New Roman" panose="02020603050405020304" pitchFamily="18" charset="0"/>
                <a:cs typeface="Times New Roman" panose="02020603050405020304" pitchFamily="18" charset="0"/>
              </a:rPr>
              <a:t>Difficult to implement effectively in large classrooms or institutions.</a:t>
            </a:r>
          </a:p>
        </p:txBody>
      </p:sp>
      <p:cxnSp>
        <p:nvCxnSpPr>
          <p:cNvPr id="11" name="Straight Connector 10"/>
          <p:cNvCxnSpPr/>
          <p:nvPr/>
        </p:nvCxnSpPr>
        <p:spPr>
          <a:xfrm>
            <a:off x="685800" y="1676400"/>
            <a:ext cx="10277883" cy="0"/>
          </a:xfrm>
          <a:prstGeom prst="line">
            <a:avLst/>
          </a:prstGeom>
          <a:ln w="9525" cap="flat" cmpd="sng" algn="ctr">
            <a:solidFill>
              <a:schemeClr val="bg1">
                <a:lumMod val="75000"/>
              </a:schemeClr>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676910" y="1600200"/>
            <a:ext cx="10524490" cy="0"/>
          </a:xfrm>
          <a:custGeom>
            <a:avLst/>
            <a:gdLst/>
            <a:ahLst/>
            <a:cxnLst/>
            <a:rect l="l" t="t" r="r" b="b"/>
            <a:pathLst>
              <a:path w="10524490">
                <a:moveTo>
                  <a:pt x="0" y="0"/>
                </a:moveTo>
                <a:lnTo>
                  <a:pt x="10524363" y="0"/>
                </a:lnTo>
              </a:path>
            </a:pathLst>
          </a:custGeom>
          <a:ln w="6350">
            <a:solidFill>
              <a:srgbClr val="D0CECE"/>
            </a:solidFill>
            <a:prstDash val="sysDash"/>
          </a:ln>
        </p:spPr>
        <p:txBody>
          <a:bodyPr wrap="square" lIns="0" tIns="0" rIns="0" bIns="0" rtlCol="0"/>
          <a:lstStyle/>
          <a:p>
            <a:endParaRPr/>
          </a:p>
        </p:txBody>
      </p:sp>
      <p:sp>
        <p:nvSpPr>
          <p:cNvPr id="8" name="object 3"/>
          <p:cNvSpPr txBox="1">
            <a:spLocks noGrp="1"/>
          </p:cNvSpPr>
          <p:nvPr>
            <p:ph type="title"/>
          </p:nvPr>
        </p:nvSpPr>
        <p:spPr>
          <a:xfrm>
            <a:off x="596342" y="1077749"/>
            <a:ext cx="10527588" cy="522451"/>
          </a:xfrm>
          <a:prstGeom prst="rect">
            <a:avLst/>
          </a:prstGeom>
        </p:spPr>
        <p:txBody>
          <a:bodyPr vert="horz" wrap="square" lIns="0" tIns="151638" rIns="0" bIns="0" rtlCol="0">
            <a:spAutoFit/>
          </a:bodyPr>
          <a:lstStyle/>
          <a:p>
            <a:pPr marL="109220">
              <a:lnSpc>
                <a:spcPct val="100000"/>
              </a:lnSpc>
              <a:spcBef>
                <a:spcPts val="100"/>
              </a:spcBef>
            </a:pPr>
            <a:r>
              <a:rPr lang="en-IN" sz="2400" spc="-10" dirty="0">
                <a:latin typeface="Times New Roman" panose="02020603050405020304" pitchFamily="18" charset="0"/>
                <a:cs typeface="Times New Roman" panose="02020603050405020304" pitchFamily="18" charset="0"/>
              </a:rPr>
              <a:t>PROPOSED SYSTEM</a:t>
            </a:r>
            <a:r>
              <a:rPr sz="2400" spc="-1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
        <p:nvSpPr>
          <p:cNvPr id="9" name="object 4"/>
          <p:cNvSpPr txBox="1"/>
          <p:nvPr/>
        </p:nvSpPr>
        <p:spPr>
          <a:xfrm>
            <a:off x="802996" y="1599062"/>
            <a:ext cx="10703204" cy="4877938"/>
          </a:xfrm>
          <a:prstGeom prst="rect">
            <a:avLst/>
          </a:prstGeom>
        </p:spPr>
        <p:txBody>
          <a:bodyPr vert="horz" wrap="square" lIns="0" tIns="12700" rIns="0" bIns="0" rtlCol="0">
            <a:spAutoFit/>
          </a:bodyPr>
          <a:lstStyle/>
          <a:p>
            <a:pPr marL="15875" algn="just">
              <a:lnSpc>
                <a:spcPct val="138000"/>
              </a:lnSpc>
              <a:spcBef>
                <a:spcPts val="100"/>
              </a:spcBef>
            </a:pPr>
            <a:r>
              <a:rPr lang="en-US" altLang="en-US" sz="1600" dirty="0">
                <a:latin typeface="Times New Roman" panose="02020603050405020304" pitchFamily="18" charset="0"/>
                <a:cs typeface="Times New Roman" panose="02020603050405020304" pitchFamily="18" charset="0"/>
              </a:rPr>
              <a:t>The proposed system introduces an AI-powered automated attendance solution using CCTV cameras and facial recognition technology. Classroom cameras capture real-time video, and AI algorithms detect and recognize student faces automatically. Attendance is marked instantly and stored securely in a centralized digital database, eliminating manual intervention. The system prevents proxy attendance by verifying identities continuously, enhances accuracy, and allows easy access to attendance records and reports for faculty and administrators. Built with Python and OpenCV for face recognition, Flask/Django backend, React.js frontend, and MySQL/MongoDB for data storage, the system is scalable, efficient, and secure.</a:t>
            </a:r>
          </a:p>
          <a:p>
            <a:pPr marL="15875" algn="just">
              <a:lnSpc>
                <a:spcPct val="138000"/>
              </a:lnSpc>
              <a:spcBef>
                <a:spcPts val="100"/>
              </a:spcBef>
            </a:pPr>
            <a:r>
              <a:rPr lang="en-US" altLang="en-US" b="1" dirty="0">
                <a:latin typeface="Times New Roman" panose="02020603050405020304" pitchFamily="18" charset="0"/>
                <a:cs typeface="Times New Roman" panose="02020603050405020304" pitchFamily="18" charset="0"/>
              </a:rPr>
              <a:t>Advantages:</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Automated Attendance</a:t>
            </a:r>
            <a:r>
              <a:rPr lang="en-US" altLang="en-US" sz="1600" dirty="0">
                <a:latin typeface="Times New Roman" panose="02020603050405020304" pitchFamily="18" charset="0"/>
                <a:cs typeface="Times New Roman" panose="02020603050405020304" pitchFamily="18" charset="0"/>
              </a:rPr>
              <a:t>: Eliminates manual roll calls, saving classroom time.</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Contactless Identification: </a:t>
            </a:r>
            <a:r>
              <a:rPr lang="en-US" altLang="en-US" sz="1600" dirty="0">
                <a:latin typeface="Times New Roman" panose="02020603050405020304" pitchFamily="18" charset="0"/>
                <a:cs typeface="Times New Roman" panose="02020603050405020304" pitchFamily="18" charset="0"/>
              </a:rPr>
              <a:t>Uses facial recognition without physical interaction.</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Proxy Prevention: </a:t>
            </a:r>
            <a:r>
              <a:rPr lang="en-US" altLang="en-US" sz="1600" dirty="0">
                <a:latin typeface="Times New Roman" panose="02020603050405020304" pitchFamily="18" charset="0"/>
                <a:cs typeface="Times New Roman" panose="02020603050405020304" pitchFamily="18" charset="0"/>
              </a:rPr>
              <a:t>Detects and prevents proxy attendance in real time.</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Continuous Monitoring: </a:t>
            </a:r>
            <a:r>
              <a:rPr lang="en-US" altLang="en-US" sz="1600" dirty="0">
                <a:latin typeface="Times New Roman" panose="02020603050405020304" pitchFamily="18" charset="0"/>
                <a:cs typeface="Times New Roman" panose="02020603050405020304" pitchFamily="18" charset="0"/>
              </a:rPr>
              <a:t>Ensures students remain present during sessions.</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Accurate Record Keeping: </a:t>
            </a:r>
            <a:r>
              <a:rPr lang="en-US" altLang="en-US" sz="1600" dirty="0">
                <a:latin typeface="Times New Roman" panose="02020603050405020304" pitchFamily="18" charset="0"/>
                <a:cs typeface="Times New Roman" panose="02020603050405020304" pitchFamily="18" charset="0"/>
              </a:rPr>
              <a:t>Automatically updates and manages attendance data securely.</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Easy Access &amp; Reporting: </a:t>
            </a:r>
            <a:r>
              <a:rPr lang="en-US" altLang="en-US" sz="1600" dirty="0">
                <a:latin typeface="Times New Roman" panose="02020603050405020304" pitchFamily="18" charset="0"/>
                <a:cs typeface="Times New Roman" panose="02020603050405020304" pitchFamily="18" charset="0"/>
              </a:rPr>
              <a:t>Provides intuitive interfaces for faculty and admins to review attendance.</a:t>
            </a:r>
          </a:p>
          <a:p>
            <a:pPr marL="301625" indent="-285750" algn="just">
              <a:lnSpc>
                <a:spcPct val="138000"/>
              </a:lnSpc>
              <a:spcBef>
                <a:spcPts val="100"/>
              </a:spcBef>
              <a:buFont typeface="Wingdings" panose="05000000000000000000" pitchFamily="2" charset="2"/>
              <a:buChar char=""/>
            </a:pPr>
            <a:r>
              <a:rPr lang="en-US" altLang="en-US" sz="1600" b="1" dirty="0">
                <a:latin typeface="Times New Roman" panose="02020603050405020304" pitchFamily="18" charset="0"/>
                <a:cs typeface="Times New Roman" panose="02020603050405020304" pitchFamily="18" charset="0"/>
              </a:rPr>
              <a:t>Scalable &amp; Secure: </a:t>
            </a:r>
            <a:r>
              <a:rPr lang="en-US" altLang="en-US" sz="1600" dirty="0">
                <a:latin typeface="Times New Roman" panose="02020603050405020304" pitchFamily="18" charset="0"/>
                <a:cs typeface="Times New Roman" panose="02020603050405020304" pitchFamily="18" charset="0"/>
              </a:rPr>
              <a:t>Suitable for small to large educational institutions with strong data protection.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935985" y="2571699"/>
            <a:ext cx="6293485" cy="1490152"/>
          </a:xfrm>
          <a:prstGeom prst="rect">
            <a:avLst/>
          </a:prstGeom>
          <a:effectLst>
            <a:glow rad="63500">
              <a:schemeClr val="accent1">
                <a:satMod val="175000"/>
                <a:alpha val="40000"/>
              </a:schemeClr>
            </a:glow>
          </a:effectLst>
        </p:spPr>
        <p:txBody>
          <a:bodyPr vert="horz" wrap="square" lIns="0" tIns="12700" rIns="0" bIns="0" rtlCol="0" anchor="ctr">
            <a:spAutoFit/>
          </a:bodyPr>
          <a:lstStyle/>
          <a:p>
            <a:pPr marL="12700">
              <a:lnSpc>
                <a:spcPct val="100000"/>
              </a:lnSpc>
              <a:spcBef>
                <a:spcPts val="100"/>
              </a:spcBef>
            </a:pPr>
            <a:r>
              <a:rPr lang="en-IN" sz="9600" spc="-395" dirty="0">
                <a:solidFill>
                  <a:srgbClr val="000000"/>
                </a:solidFill>
                <a:latin typeface="Algerian" panose="04020705040A02060702" pitchFamily="82" charset="0"/>
              </a:rPr>
              <a:t>THANK YOU</a:t>
            </a:r>
            <a:endParaRPr sz="9600" dirty="0">
              <a:latin typeface="Algerian" panose="04020705040A02060702" pitchFamily="82" charset="0"/>
            </a:endParaRPr>
          </a:p>
        </p:txBody>
      </p:sp>
    </p:spTree>
  </p:cSld>
  <p:clrMapOvr>
    <a:masterClrMapping/>
  </p:clrMapOvr>
</p:sld>
</file>

<file path=ppt/theme/theme1.xml><?xml version="1.0" encoding="utf-8"?>
<a:theme xmlns:a="http://schemas.openxmlformats.org/drawingml/2006/main" name="Theme1">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heme1" id="{F5D495BE-D770-46FD-B567-DC38CFBFC8FA}" vid="{3F9C5292-707A-4E0F-97A7-231C7A527376}"/>
    </a:ext>
  </a:extLst>
</a:theme>
</file>

<file path=docProps/app.xml><?xml version="1.0" encoding="utf-8"?>
<Properties xmlns="http://schemas.openxmlformats.org/officeDocument/2006/extended-properties" xmlns:vt="http://schemas.openxmlformats.org/officeDocument/2006/docPropsVTypes">
  <Template>Theme1</Template>
  <TotalTime>40</TotalTime>
  <Words>682</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Algerian</vt:lpstr>
      <vt:lpstr>Arial</vt:lpstr>
      <vt:lpstr>Book Antiqua</vt:lpstr>
      <vt:lpstr>Century Gothic</vt:lpstr>
      <vt:lpstr>Times New Roman</vt:lpstr>
      <vt:lpstr>Verdana</vt:lpstr>
      <vt:lpstr>Wingdings</vt:lpstr>
      <vt:lpstr>Wingdings 3</vt:lpstr>
      <vt:lpstr>Theme1</vt:lpstr>
      <vt:lpstr>PowerPoint Presentation</vt:lpstr>
      <vt:lpstr>PowerPoint Presentation</vt:lpstr>
      <vt:lpstr>CONTENTS:</vt:lpstr>
      <vt:lpstr>ABSTRACT:</vt:lpstr>
      <vt:lpstr>EXISTING SYSTEM:</vt:lpstr>
      <vt:lpstr>PROPOSED SYSTEM: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llahari043@gmail.com</dc:creator>
  <cp:lastModifiedBy>Nithish Kumar</cp:lastModifiedBy>
  <cp:revision>8</cp:revision>
  <dcterms:created xsi:type="dcterms:W3CDTF">2024-11-12T08:23:00Z</dcterms:created>
  <dcterms:modified xsi:type="dcterms:W3CDTF">2026-01-30T16:32:20Z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2023-12-23T11:00:00Z</vt:filetime>
  </property>
  <property fmtid="{D5CDD505-2E9C-101B-9397-08002B2CF9AE}" pid="3" name="Creator">
    <vt:lpwstr>Microsoft® PowerPoint® for Microsoft 365</vt:lpwstr>
  </property>
  <property fmtid="{D5CDD505-2E9C-101B-9397-08002B2CF9AE}" pid="4" name="LastSaved">
    <vt:filetime>2024-11-12T11:00:00Z</vt:filetime>
  </property>
  <property fmtid="{D5CDD505-2E9C-101B-9397-08002B2CF9AE}" pid="5" name="Producer">
    <vt:lpwstr>Microsoft® PowerPoint® for Microsoft 365</vt:lpwstr>
  </property>
  <property fmtid="{D5CDD505-2E9C-101B-9397-08002B2CF9AE}" pid="6" name="ICV">
    <vt:lpwstr>F6B4BDC0C004467DB057F341F3413679_13</vt:lpwstr>
  </property>
  <property fmtid="{D5CDD505-2E9C-101B-9397-08002B2CF9AE}" pid="7" name="KSOProductBuildVer">
    <vt:lpwstr>1033-12.2.0.23196</vt:lpwstr>
  </property>
</Properties>
</file>